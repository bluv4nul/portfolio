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9" r:id="rId5"/>
    <p:sldId id="260" r:id="rId6"/>
    <p:sldId id="261" r:id="rId7"/>
    <p:sldId id="266" r:id="rId8"/>
    <p:sldId id="267" r:id="rId9"/>
    <p:sldId id="268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F0A48-3C50-4546-8B2F-A768480B00C1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CCD1A-3A8C-4E85-B2EA-0F18FF55B5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26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31D10F-C84D-4B36-87A1-4A769024A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2D4BBC-8C90-4A43-8CC7-D8979D2CF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B967D3-E160-42CB-8938-9F7762DAB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A6ACC-F983-46F1-BC8F-F65762DD8298}" type="datetime1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5C62FF-2144-4D27-B201-FEF13CD0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FD577E-34AB-421B-90FE-F9886FC8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146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B755C-91EF-4759-A5BA-64A0DC4B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6B25ED-1A50-43FB-AD5F-C82D1BE65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D39D34-9306-43CC-86EA-F9766490D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E2EAF-3943-47BD-917F-E2C5789864EA}" type="datetime1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15A517-8B51-42AC-B26F-E5916B45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9E0BB4-1557-4E11-8BA8-49B4FDAC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894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294C5-63CE-42A9-8BA9-DA7606B4A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F05304-770D-40EB-A22A-83E948B09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4732A0-2B3E-491F-9C10-2F779B0E1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BB6F-8E06-4523-A7C5-228F1F9098B9}" type="datetime1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6C0219-23FA-4BF6-BE40-C10DD1A0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5CD73A-51FB-43C7-87C6-6DBE2567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53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3EBB2-3A9C-4219-A692-6AC753025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CD1846-6892-460B-9112-A5A75BB36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85F37B-F2E8-4312-B3A9-6DB31611A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B5B5AF-7BB3-487C-84C9-CB1D9F85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50914-E5C0-4913-B1D5-BD9F1B5A07EA}" type="datetime1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0B055E-6F2B-4CDA-A1AF-6F45A2E4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59A4A3-7075-4E77-B333-27BA7C0D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597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01BA3-AF74-4AC6-B51F-28C9B8D82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A3E8EA-DCCC-476B-8ACF-1FAB1F20D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8D09A0-0445-440B-8E44-BE9440419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C70E622-3FDB-4539-888B-13168B3589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FAD7EA-9B6D-4F9A-9AD2-B63BD2B80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D7CF02-636E-4B46-BD06-AF267EE1B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EB53-BDC8-422E-9A19-8712B4B7542E}" type="datetime1">
              <a:rPr lang="ru-RU" smtClean="0"/>
              <a:t>21.06.2026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C8E11D-E613-410E-B0A4-536A971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E1760F4-7AF2-40BE-979F-BB0782537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82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3A33B-D3A9-405B-892F-CBB918B5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4BE5788-96A6-41FB-BBBD-8E30AC02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D27A7-7021-4E81-BB78-0433771FE051}" type="datetime1">
              <a:rPr lang="ru-RU" smtClean="0"/>
              <a:t>21.06.2026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4EDCA43-D0B2-4046-AAD9-E4B4C72B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2BB58E-1BE3-4CA7-9B2C-038D6507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948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A3D6586-17DF-4B0D-B5D6-D65872E9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8698-D1D7-46B5-BF6A-9727CD894472}" type="datetime1">
              <a:rPr lang="ru-RU" smtClean="0"/>
              <a:t>21.06.2026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9A00825-CB2F-4798-94C0-BBE33365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39E343-5646-42C5-9F4E-284DAC34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644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6986F4-611D-4981-8412-FB4456418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CF423E-332C-432C-8CBC-0436E0DAC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2144E3-8FAB-4AAB-8381-838CCB029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F6BE33-E3F0-4F8B-AFB5-5B98F2B1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4863A-AFF8-4ECE-8176-8C0929FE5EC1}" type="datetime1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8BBED2-79FA-4757-A0A4-374DBA30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CFA7D7-2153-49E9-85EB-B01D02257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68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C1E549-BF9E-4754-B639-4A0DEB86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A6D9A18-DD71-44A2-9686-BC7347427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6429AF-5F33-4E5E-87A7-1C05811B3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55E830-643C-48FB-8AC9-229A57BE1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7637-7D4F-4270-8A35-ED0352B3C3D4}" type="datetime1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061ED1-13F5-4837-A53A-605CCC43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598DDF-1576-4E06-B9A8-74C551AE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6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F5CDF0-1CB8-420C-8706-37DE93487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958AA8-5F7F-4335-AD28-0A31B6B9F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EF9957-96E3-408A-9F97-9BE194B18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A491C-F0FC-4407-A699-0D143AAD4AEF}" type="datetime1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E49237-E36C-48AF-A8F1-C0646AF91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353F8C-DF1C-4CF3-A0E0-22EB804B7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705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28888F3-72B5-4CF2-A214-C925CAB50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D8A0B2-9CB6-4C8C-89C8-83CA641EC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5CFCD4-CD9B-412C-9D97-CAE2E8DBF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BA92-819C-4DA3-8143-7B290D2DD158}" type="datetime1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A7C304-A87D-4F08-8EBB-63A3D5DC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792578-5299-488B-BA88-11B1DD7B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95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7462B8-F8A7-448E-9628-DC067686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E491C6-269F-483E-B0A0-FD09FE2C7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F61EDA-ADA5-4C98-948D-F1C4D6EE3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8AC8D-E7A4-4486-BA51-57C7A03A3DD9}" type="datetime1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914B21-98B3-4FF2-99B1-8EC84484C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D8A4C7-7BF3-4985-A858-F4DC404DA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D7E8D-E8CD-4F6D-9952-E38A4BD632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69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numpy.org/doc/" TargetMode="External"/><Relationship Id="rId3" Type="http://schemas.openxmlformats.org/officeDocument/2006/relationships/hyperlink" Target="https://libeldoc.bsuir.by/handle/123456789/60395" TargetMode="External"/><Relationship Id="rId7" Type="http://schemas.openxmlformats.org/officeDocument/2006/relationships/hyperlink" Target="https://docs.python.org/" TargetMode="External"/><Relationship Id="rId2" Type="http://schemas.openxmlformats.org/officeDocument/2006/relationships/hyperlink" Target="https://neerc.ifmo.ru/wiki/index.php?title=&#1052;&#1086;&#1076;&#1077;&#1083;&#1080;_&#1082;&#1083;&#1077;&#1090;&#1086;&#1095;&#1085;&#1099;&#1093;_&#1072;&#1074;&#1090;&#1086;&#1084;&#1072;&#1090;&#1086;&#1074;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hess.copernicus.org/articles/19/169/2019/" TargetMode="External"/><Relationship Id="rId5" Type="http://schemas.openxmlformats.org/officeDocument/2006/relationships/hyperlink" Target="https://www.hse.ru/edu/vkr/834349586" TargetMode="External"/><Relationship Id="rId10" Type="http://schemas.openxmlformats.org/officeDocument/2006/relationships/hyperlink" Target="https://www.dpi.inpe.br/gilberto/cursos/st-society-2013/Kara1997.pdf" TargetMode="External"/><Relationship Id="rId4" Type="http://schemas.openxmlformats.org/officeDocument/2006/relationships/hyperlink" Target="https://habr.com/ru/articles/716342/" TargetMode="External"/><Relationship Id="rId9" Type="http://schemas.openxmlformats.org/officeDocument/2006/relationships/hyperlink" Target="https://matplotlib.org/stable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D0A7E-2614-44DD-82A8-F6C7C66E7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965" y="2823067"/>
            <a:ext cx="10042070" cy="134027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Курсовая работа по теме</a:t>
            </a:r>
            <a:r>
              <a:rPr 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br>
              <a:rPr 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“</a:t>
            </a:r>
            <a:r>
              <a:rPr lang="ru-RU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Компьютерное моделирование распространения лесного пожара с использованием клеточного автомата</a:t>
            </a:r>
            <a:r>
              <a:rPr 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”</a:t>
            </a:r>
            <a:endParaRPr lang="ru-RU" sz="2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A57444-0FAC-4B62-AEE0-246B1DF42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5870" y="3961454"/>
            <a:ext cx="5418082" cy="2343312"/>
          </a:xfrm>
        </p:spPr>
        <p:txBody>
          <a:bodyPr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br>
              <a:rPr lang="ru-RU" sz="1600" dirty="0"/>
            </a:b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Выполнил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студент 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курса, РГПУ им. Герцена, института ИИТИТО, группы ИВТ-2</a:t>
            </a:r>
            <a:b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Фролов Андрей Алексеевич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endParaRPr lang="en-US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Руководитель курсовой работы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endParaRPr lang="ru-RU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Кандидат педагогических наук, доцент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Гончарова Светлана Викторовна</a:t>
            </a:r>
            <a:endParaRPr lang="en-US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algn="r"/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26D496-4755-4699-A53A-533F75A0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2455"/>
            <a:ext cx="4114800" cy="365125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г. Санкт-Петербург, 202</a:t>
            </a:r>
            <a:r>
              <a:rPr lang="en-US" dirty="0">
                <a:solidFill>
                  <a:schemeClr val="tx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r>
            <a:endParaRPr lang="ru-RU" dirty="0">
              <a:solidFill>
                <a:schemeClr val="tx1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075F01-1A59-458A-979D-CC1122804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278" y="140420"/>
            <a:ext cx="2875443" cy="281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5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40245-1203-4D64-9036-4012B5ED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970" y="289151"/>
            <a:ext cx="3690059" cy="960336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A2D89B-6C86-4F39-A7F8-9CB947C06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1177"/>
            <a:ext cx="10515600" cy="48351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Цель –</a:t>
            </a:r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разработка программы для моделирования распространения лесного пожара на основе вероятностного клеточного автомата с учетом параметров среды.</a:t>
            </a:r>
          </a:p>
          <a:p>
            <a:pPr marL="0" indent="0" algn="just">
              <a:buNone/>
            </a:pPr>
            <a:endParaRPr lang="ru-RU" sz="18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 algn="just">
              <a:buNone/>
            </a:pPr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Задачи</a:t>
            </a:r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изучить основы компьютерного моделирования и клеточных автоматов применительно к задаче моделирования лесного пожара;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разработать структуру вероятностной модели, включающую двумерную сетку, состояния клеток и правила перехода между состояниями;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учесть в модели параметры среды: плотность леса, влажность, направление ветра, силу ветра, противопожарные разрывы и перенос искр;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разработать программу на языке Python;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реализовать визуальное отображение модели и элементы управления;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проверить работу программы при разных настройках параметров.</a:t>
            </a:r>
          </a:p>
          <a:p>
            <a:pPr marL="0" indent="0" algn="just">
              <a:buNone/>
            </a:pPr>
            <a:endParaRPr lang="ru-RU" sz="18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3CC025-C438-44E7-A0A2-C98B340F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>
                <a:solidFill>
                  <a:schemeClr val="tx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fld>
            <a:endParaRPr lang="ru-RU" dirty="0">
              <a:solidFill>
                <a:schemeClr val="tx1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525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17200-A58A-4D8E-BC4B-B90545AF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988" y="307501"/>
            <a:ext cx="5070022" cy="85951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Обозначения клеток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186B23-1E8B-4190-ADFB-530A8A88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>
                <a:solidFill>
                  <a:schemeClr val="tx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fld>
            <a:endParaRPr lang="ru-RU" dirty="0">
              <a:solidFill>
                <a:schemeClr val="tx1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87E93329-3E12-27D0-14F3-9A96A66E1F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992068"/>
              </p:ext>
            </p:extLst>
          </p:nvPr>
        </p:nvGraphicFramePr>
        <p:xfrm>
          <a:off x="1584174" y="1387929"/>
          <a:ext cx="9023652" cy="468663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07884">
                  <a:extLst>
                    <a:ext uri="{9D8B030D-6E8A-4147-A177-3AD203B41FA5}">
                      <a16:colId xmlns:a16="http://schemas.microsoft.com/office/drawing/2014/main" val="3226675671"/>
                    </a:ext>
                  </a:extLst>
                </a:gridCol>
                <a:gridCol w="3007884">
                  <a:extLst>
                    <a:ext uri="{9D8B030D-6E8A-4147-A177-3AD203B41FA5}">
                      <a16:colId xmlns:a16="http://schemas.microsoft.com/office/drawing/2014/main" val="921781297"/>
                    </a:ext>
                  </a:extLst>
                </a:gridCol>
                <a:gridCol w="3007884">
                  <a:extLst>
                    <a:ext uri="{9D8B030D-6E8A-4147-A177-3AD203B41FA5}">
                      <a16:colId xmlns:a16="http://schemas.microsoft.com/office/drawing/2014/main" val="2881018925"/>
                    </a:ext>
                  </a:extLst>
                </a:gridCol>
              </a:tblGrid>
              <a:tr h="6144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Состояние клетки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Обозначение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Смысл в модели</a:t>
                      </a:r>
                      <a:br>
                        <a:rPr lang="ru-RU" sz="1400" b="1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</a:br>
                      <a:endParaRPr lang="ru-RU" sz="1400" b="1" dirty="0">
                        <a:effectLst/>
                        <a:latin typeface="Cascadia Mono" panose="020B0609020000020004" pitchFamily="49" charset="0"/>
                        <a:ea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744343893"/>
                  </a:ext>
                </a:extLst>
              </a:tr>
              <a:tr h="492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Пустая территория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EMPTY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Участок без дерева и огня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052918706"/>
                  </a:ext>
                </a:extLst>
              </a:tr>
              <a:tr h="492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Дерево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TREE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Горючий участок территории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8543317"/>
                  </a:ext>
                </a:extLst>
              </a:tr>
              <a:tr h="5218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Первая стадия горения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FIRE_1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Начальная стадия горения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051867635"/>
                  </a:ext>
                </a:extLst>
              </a:tr>
              <a:tr h="492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Вторая стадия горения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FIRE_2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Продолжение горения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674732071"/>
                  </a:ext>
                </a:extLst>
              </a:tr>
              <a:tr h="492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Третья стадия горения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FIRE_3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Последняя стадия горения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648619481"/>
                  </a:ext>
                </a:extLst>
              </a:tr>
              <a:tr h="5266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Сгоревший участок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BURNT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Участок после завершения горения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3763680263"/>
                  </a:ext>
                </a:extLst>
              </a:tr>
              <a:tr h="5266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Противопожарный разрыв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FIREBREAK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Участок без горючего материала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908101684"/>
                  </a:ext>
                </a:extLst>
              </a:tr>
              <a:tr h="5266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Искра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SPARK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Перенос огня ветром на расстояние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3121479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642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D44E-4552-CA11-53EA-115210A2B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5627E-42BE-6CDB-E355-DD76FEDC5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988" y="307501"/>
            <a:ext cx="5070022" cy="85951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Переход клеток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583ED0-6D7B-1C5F-3196-0E7BD4D6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>
                <a:solidFill>
                  <a:schemeClr val="tx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fld>
            <a:endParaRPr lang="ru-RU" dirty="0">
              <a:solidFill>
                <a:schemeClr val="tx1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154F993C-DA66-89E6-5FFD-5F5B3A6048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977064"/>
              </p:ext>
            </p:extLst>
          </p:nvPr>
        </p:nvGraphicFramePr>
        <p:xfrm>
          <a:off x="1584174" y="1387929"/>
          <a:ext cx="9023652" cy="468663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07884">
                  <a:extLst>
                    <a:ext uri="{9D8B030D-6E8A-4147-A177-3AD203B41FA5}">
                      <a16:colId xmlns:a16="http://schemas.microsoft.com/office/drawing/2014/main" val="3226675671"/>
                    </a:ext>
                  </a:extLst>
                </a:gridCol>
                <a:gridCol w="3007884">
                  <a:extLst>
                    <a:ext uri="{9D8B030D-6E8A-4147-A177-3AD203B41FA5}">
                      <a16:colId xmlns:a16="http://schemas.microsoft.com/office/drawing/2014/main" val="921781297"/>
                    </a:ext>
                  </a:extLst>
                </a:gridCol>
                <a:gridCol w="3007884">
                  <a:extLst>
                    <a:ext uri="{9D8B030D-6E8A-4147-A177-3AD203B41FA5}">
                      <a16:colId xmlns:a16="http://schemas.microsoft.com/office/drawing/2014/main" val="2881018925"/>
                    </a:ext>
                  </a:extLst>
                </a:gridCol>
              </a:tblGrid>
              <a:tr h="6144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Состояние клетки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Обозначение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Переход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744343893"/>
                  </a:ext>
                </a:extLst>
              </a:tr>
              <a:tr h="492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Пустая территория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EMPTY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EMPTY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052918706"/>
                  </a:ext>
                </a:extLst>
              </a:tr>
              <a:tr h="492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Дерево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TREE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FIRE_1</a:t>
                      </a:r>
                      <a:endParaRPr lang="ru-RU" sz="1200" dirty="0">
                        <a:effectLst/>
                        <a:latin typeface="Cascadia Mono" panose="020B0609020000020004" pitchFamily="49" charset="0"/>
                        <a:ea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8543317"/>
                  </a:ext>
                </a:extLst>
              </a:tr>
              <a:tr h="5218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Первая стадия горения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FIRE_1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FIRE_2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051867635"/>
                  </a:ext>
                </a:extLst>
              </a:tr>
              <a:tr h="492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Вторая стадия горения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FIRE_2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FIRE_3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674732071"/>
                  </a:ext>
                </a:extLst>
              </a:tr>
              <a:tr h="4925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Третья стадия горения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FIRE_3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BURNT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648619481"/>
                  </a:ext>
                </a:extLst>
              </a:tr>
              <a:tr h="5266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Сгоревший участок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BURNT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BURNT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3763680263"/>
                  </a:ext>
                </a:extLst>
              </a:tr>
              <a:tr h="5266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Противопожарный разрыв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FIREBREAK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FIREBREAK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2908101684"/>
                  </a:ext>
                </a:extLst>
              </a:tr>
              <a:tr h="5266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Искра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SPARK</a:t>
                      </a:r>
                    </a:p>
                  </a:txBody>
                  <a:tcPr marL="54054" marR="540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200" dirty="0"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FIRE_1</a:t>
                      </a:r>
                    </a:p>
                  </a:txBody>
                  <a:tcPr marL="54054" marR="54054" marT="0" marB="0" anchor="ctr"/>
                </a:tc>
                <a:extLst>
                  <a:ext uri="{0D108BD9-81ED-4DB2-BD59-A6C34878D82A}">
                    <a16:rowId xmlns:a16="http://schemas.microsoft.com/office/drawing/2014/main" val="3121479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461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398A2-0B83-4294-94DB-FAD44E34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2580" y="271276"/>
            <a:ext cx="3903927" cy="884835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Параметры среды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C6439911-8578-49F5-8390-7E5F3BD0E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3574123"/>
              </p:ext>
            </p:extLst>
          </p:nvPr>
        </p:nvGraphicFramePr>
        <p:xfrm>
          <a:off x="555171" y="1603670"/>
          <a:ext cx="11062608" cy="3592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4168">
                  <a:extLst>
                    <a:ext uri="{9D8B030D-6E8A-4147-A177-3AD203B41FA5}">
                      <a16:colId xmlns:a16="http://schemas.microsoft.com/office/drawing/2014/main" val="1730644397"/>
                    </a:ext>
                  </a:extLst>
                </a:gridCol>
                <a:gridCol w="5528440">
                  <a:extLst>
                    <a:ext uri="{9D8B030D-6E8A-4147-A177-3AD203B41FA5}">
                      <a16:colId xmlns:a16="http://schemas.microsoft.com/office/drawing/2014/main" val="3947361232"/>
                    </a:ext>
                  </a:extLst>
                </a:gridCol>
              </a:tblGrid>
              <a:tr h="391137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Параметр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Значение по умолчанию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772793"/>
                  </a:ext>
                </a:extLst>
              </a:tr>
              <a:tr h="463642">
                <a:tc>
                  <a:txBody>
                    <a:bodyPr/>
                    <a:lstStyle/>
                    <a:p>
                      <a:pPr algn="ctr"/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базовая вероятность распространения огня</a:t>
                      </a:r>
                      <a:endParaRPr lang="ru-RU" sz="1400" dirty="0">
                        <a:latin typeface="Cascadia Mono" panose="020B0609020000020004" pitchFamily="49" charset="0"/>
                        <a:ea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0,55 * 100 %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406439"/>
                  </a:ext>
                </a:extLst>
              </a:tr>
              <a:tr h="391137">
                <a:tc>
                  <a:txBody>
                    <a:bodyPr/>
                    <a:lstStyle/>
                    <a:p>
                      <a:pPr algn="ctr"/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коэффициент ослабления по диагонали</a:t>
                      </a:r>
                      <a:endParaRPr lang="ru-RU" sz="1400" dirty="0">
                        <a:latin typeface="Cascadia Mono" panose="020B0609020000020004" pitchFamily="49" charset="0"/>
                        <a:ea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0</a:t>
                      </a:r>
                      <a:r>
                        <a:rPr lang="en-US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,7</a:t>
                      </a:r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 * 100 %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4226888"/>
                  </a:ext>
                </a:extLst>
              </a:tr>
              <a:tr h="39113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Плотность леса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0</a:t>
                      </a:r>
                      <a:r>
                        <a:rPr lang="en-US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,</a:t>
                      </a:r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86 * 100 %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942453"/>
                  </a:ext>
                </a:extLst>
              </a:tr>
              <a:tr h="39113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Влажность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0,1 * </a:t>
                      </a:r>
                      <a:r>
                        <a:rPr lang="en-US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100%</a:t>
                      </a:r>
                      <a:endParaRPr lang="ru-RU" sz="1400" dirty="0">
                        <a:latin typeface="Cascadia Mono" panose="020B0609020000020004" pitchFamily="49" charset="0"/>
                        <a:ea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475042"/>
                  </a:ext>
                </a:extLst>
              </a:tr>
              <a:tr h="39113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Направление ветра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вправо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565871"/>
                  </a:ext>
                </a:extLst>
              </a:tr>
              <a:tr h="39113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Сила ветра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0,4 * 100 %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336283"/>
                  </a:ext>
                </a:extLst>
              </a:tr>
              <a:tr h="39113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Вероятность появления искры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0,04 * 100 %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171706"/>
                  </a:ext>
                </a:extLst>
              </a:tr>
              <a:tr h="39113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Максимальная дальность полета искры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12 клеток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292591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3BFB52-41C8-447C-B50E-8B7CBBB33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>
                <a:solidFill>
                  <a:schemeClr val="tx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fld>
            <a:endParaRPr lang="ru-RU" dirty="0">
              <a:solidFill>
                <a:schemeClr val="tx1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95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90E94-E077-4E3B-9549-D1CB4F149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1300" y="94959"/>
            <a:ext cx="5409398" cy="834501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Интерфейс программы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2B237A-19BB-4674-9CC2-E1EC5390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>
                <a:solidFill>
                  <a:schemeClr val="tx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6</a:t>
            </a:fld>
            <a:endParaRPr lang="ru-RU" dirty="0">
              <a:solidFill>
                <a:schemeClr val="tx1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CA1AF-2F58-480C-A44D-22B33D6ABBAF}"/>
              </a:ext>
            </a:extLst>
          </p:cNvPr>
          <p:cNvSpPr txBox="1"/>
          <p:nvPr/>
        </p:nvSpPr>
        <p:spPr>
          <a:xfrm>
            <a:off x="3681891" y="6171684"/>
            <a:ext cx="482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scadia Mono" panose="020B0609020000020004" pitchFamily="49" charset="0"/>
                <a:cs typeface="Cascadia Mono" panose="020B0609020000020004" pitchFamily="49" charset="0"/>
              </a:rPr>
              <a:t>Рисунок 1. Интерфейс программы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840E4A6-D214-6B6E-7F8C-80A0F0944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610" y="927357"/>
            <a:ext cx="9186777" cy="516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06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ADD86-649E-8E03-1DC9-CBC3F19C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FC3D1E-78F6-C176-8E04-80E1DD717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1300" y="94959"/>
            <a:ext cx="5409398" cy="834501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Рисование препятствия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7ABB92-F88B-7126-22A2-266D17AE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>
                <a:solidFill>
                  <a:schemeClr val="tx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7</a:t>
            </a:fld>
            <a:endParaRPr lang="ru-RU" dirty="0">
              <a:solidFill>
                <a:schemeClr val="tx1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683BE-B12D-1279-2EBC-9074EFEA65FC}"/>
              </a:ext>
            </a:extLst>
          </p:cNvPr>
          <p:cNvSpPr txBox="1"/>
          <p:nvPr/>
        </p:nvSpPr>
        <p:spPr>
          <a:xfrm>
            <a:off x="3460193" y="6171684"/>
            <a:ext cx="527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scadia Mono" panose="020B0609020000020004" pitchFamily="49" charset="0"/>
                <a:cs typeface="Cascadia Mono" panose="020B0609020000020004" pitchFamily="49" charset="0"/>
              </a:rPr>
              <a:t>Рисунок 2. Режим рисования препятствий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7596E0-16D8-5433-27FB-E2F7622C3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2" y="752995"/>
            <a:ext cx="9658350" cy="541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2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41C1D-0CB9-44E0-16EF-EBF76E13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1DC86-97C5-814C-E7D2-AE071B65B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1298" y="28575"/>
            <a:ext cx="5409398" cy="834501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Запуск пожара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82F74E-3033-B138-EF24-D59FDB32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>
                <a:solidFill>
                  <a:schemeClr val="tx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</a:t>
            </a:fld>
            <a:endParaRPr lang="ru-RU" dirty="0">
              <a:solidFill>
                <a:schemeClr val="tx1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88BB31-EB9F-69ED-20DC-34AFD339C097}"/>
              </a:ext>
            </a:extLst>
          </p:cNvPr>
          <p:cNvSpPr txBox="1"/>
          <p:nvPr/>
        </p:nvSpPr>
        <p:spPr>
          <a:xfrm>
            <a:off x="4373281" y="6317852"/>
            <a:ext cx="344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scadia Mono" panose="020B0609020000020004" pitchFamily="49" charset="0"/>
                <a:cs typeface="Cascadia Mono" panose="020B0609020000020004" pitchFamily="49" charset="0"/>
              </a:rPr>
              <a:t>Рисунок 3. Запуск пожара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4FD6651-AAD0-2A39-806B-D4D89A7E8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265" y="834501"/>
            <a:ext cx="9669464" cy="543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23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069B-947E-2BE5-D514-EA56871E3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765FD-71BA-44BA-593A-109189BA4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583" y="107950"/>
            <a:ext cx="5990828" cy="834501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Финальная стадия пожара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BE1805-5112-982A-518E-E1F68949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>
                <a:solidFill>
                  <a:schemeClr val="tx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9</a:t>
            </a:fld>
            <a:endParaRPr lang="ru-RU" dirty="0">
              <a:solidFill>
                <a:schemeClr val="tx1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91046A-8338-0A30-9043-E2DF841DB8C8}"/>
              </a:ext>
            </a:extLst>
          </p:cNvPr>
          <p:cNvSpPr txBox="1"/>
          <p:nvPr/>
        </p:nvSpPr>
        <p:spPr>
          <a:xfrm>
            <a:off x="3648725" y="6201330"/>
            <a:ext cx="489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scadia Mono" panose="020B0609020000020004" pitchFamily="49" charset="0"/>
                <a:cs typeface="Cascadia Mono" panose="020B0609020000020004" pitchFamily="49" charset="0"/>
              </a:rPr>
              <a:t>Рисунок 4. Финальная стадия пожара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E95E5E-EBE1-5095-A559-2C96B58BF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0" y="775280"/>
            <a:ext cx="9439274" cy="530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94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F2C3AF-9D1D-41ED-9506-75F9B862B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566"/>
            <a:ext cx="5067650" cy="784167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scadia Mono" panose="020B0609020000020004" pitchFamily="49" charset="0"/>
                <a:cs typeface="Cascadia Mono" panose="020B0609020000020004" pitchFamily="49" charset="0"/>
              </a:rPr>
              <a:t>Список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BCC58C-4A84-4A2B-826B-E09E35BF3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3732"/>
            <a:ext cx="10515600" cy="5462617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клеточных автоматов : электронный ресурс //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Викиконспекты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Университета ИТМО. – URL: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https://neerc.ifmo.ru/wiki/index.php?title=Модели_клеточных_автоматов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(дата обращения: 03.06.2026). – Текст : электронный.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Елаш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Н. Д. Клеточные автоматы и их применение / Н. Д.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Елаш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К. П.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Ефимчик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Компьютерные системы и сети : материалы 61-й научной конференции аспирантов, магистрантов и студентов. – Минск : БГУИР, 2025. – С. 217–222. – URL: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https://libeldoc.bsuir.by/handle/123456789/60395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(дата обращения: 06.06.2026). – Текст : электронный.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лесных пожаров: теория, клеточный автомат, интеграция с геоданными : электронный ресурс //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Habr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 URL: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https://habr.com/ru/articles/716342/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(дата обращения: 02.06.2026). – Текст : электронный.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Виноградов, В. И. Моделирование распространения лесного пожара с помощью клеточных автоматов : выпускная квалификационная работа / В. И. Виноградов ; Национальный исследовательский университет «Высшая школа экономики». – 2023. – URL: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https://www.hse.ru/edu/vkr/834349586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(дата обращения: 05.06.2026). – Текст : электронный.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Freire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G. Моделирование распространения лесного пожара с помощью клеточных автоматов для поддержки управления пожарами / J. G.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Freire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C.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DaCamara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Natural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Hazards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Earth System Sciences. – 2019. –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19. – P. 169–179. – URL: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https://nhess.copernicus.org/articles/19/169/2019/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(дата обращения: 07.06.2026). – Текст : электронный.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 Python : электронный ресурс // Python Software Foundation. – URL: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https://docs.python.org/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(дата обращения: 01.06.2026). – Текст : электронный.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электронный ресурс //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Developers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 URL: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https://numpy.org/doc/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(дата обращения: 04.06.2026). – Текст : электронный.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электронный ресурс //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Team. – URL: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https://matplotlib.org/stable/index.html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(дата обращения: 06.06.2026). – Текст : электронный.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Karafyllidis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Модель прогнозирования распространения лесного пожара с помощью клеточных автоматов / I.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Karafyllidis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Thanailakis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Ecological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Modelling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 1997. –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99, № 1. – P. 87–97. – URL: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https://www.dpi.inpe.br/gilberto/cursos/st-society-2013/Kara1997.pdf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(дата обращения: 02.06.2026). – Текст : электронный.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AE1DE8-0595-48CB-9C9B-82C58DE0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7E8D-E8CD-4F6D-9952-E38A4BD632E5}" type="slidenum">
              <a:rPr lang="ru-RU" smtClean="0">
                <a:solidFill>
                  <a:schemeClr val="tx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fld>
            <a:endParaRPr lang="ru-RU" dirty="0">
              <a:solidFill>
                <a:schemeClr val="tx1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0052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856</Words>
  <Application>Microsoft Office PowerPoint</Application>
  <PresentationFormat>Широкоэкранный</PresentationFormat>
  <Paragraphs>122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Cascadia Mono</vt:lpstr>
      <vt:lpstr>Times New Roman</vt:lpstr>
      <vt:lpstr>Тема Office</vt:lpstr>
      <vt:lpstr>Курсовая работа по теме: “Компьютерное моделирование распространения лесного пожара с использованием клеточного автомата”</vt:lpstr>
      <vt:lpstr>Цель и задачи</vt:lpstr>
      <vt:lpstr>Обозначения клеток</vt:lpstr>
      <vt:lpstr>Переход клеток</vt:lpstr>
      <vt:lpstr>Параметры среды</vt:lpstr>
      <vt:lpstr>Интерфейс программы</vt:lpstr>
      <vt:lpstr>Рисование препятствия</vt:lpstr>
      <vt:lpstr>Запуск пожара</vt:lpstr>
      <vt:lpstr>Финальная стадия пожара</vt:lpstr>
      <vt:lpstr>Список источников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по теме: “Вычислительный эксперимент по исследованию влияния температуры и давления на теплопроводность газа”</dc:title>
  <dc:creator>Andrew Froliv</dc:creator>
  <cp:lastModifiedBy>Andrew Frolov</cp:lastModifiedBy>
  <cp:revision>14</cp:revision>
  <dcterms:created xsi:type="dcterms:W3CDTF">2024-12-19T13:16:28Z</dcterms:created>
  <dcterms:modified xsi:type="dcterms:W3CDTF">2026-06-21T19:21:43Z</dcterms:modified>
</cp:coreProperties>
</file>